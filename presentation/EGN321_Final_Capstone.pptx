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82296" cy="7589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67512"/>
            <a:ext cx="8229600" cy="32004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1">
                <a:solidFill>
                  <a:srgbClr val="5CC9EF"/>
                </a:solidFill>
                <a:latin typeface="Aptos"/>
              </a:defRPr>
            </a:pPr>
            <a:r>
              <a:t>EGN 321 • FINAL CAPSTONE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424160" cy="1371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3700" b="1">
                <a:solidFill>
                  <a:srgbClr val="F6F8FA"/>
                </a:solidFill>
                <a:latin typeface="Aptos"/>
              </a:defRPr>
            </a:pPr>
            <a:r>
              <a:t>From an inherited workbook</a:t>
            </a:r>
            <a:br/>
            <a:r>
              <a:t>to a trustworthy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64408"/>
            <a:ext cx="9418320" cy="53035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0">
                <a:solidFill>
                  <a:srgbClr val="B1C4D3"/>
                </a:solidFill>
                <a:latin typeface="Aptos"/>
              </a:defRPr>
            </a:pPr>
            <a:r>
              <a:t>TANK_FILL_rev4.xlsx  →  verified tank calculations + monitored Flask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51960"/>
            <a:ext cx="10241280" cy="859536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4453128"/>
            <a:ext cx="9784080" cy="4114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6DE0BA"/>
                </a:solidFill>
                <a:latin typeface="Aptos"/>
              </a:defRPr>
            </a:pPr>
            <a:r>
              <a:t>Source evidence • Unit-aware validation • SQLite • Alerts •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53328"/>
            <a:ext cx="9144000" cy="228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0">
                <a:solidFill>
                  <a:srgbClr val="B1C4D3"/>
                </a:solidFill>
                <a:latin typeface="Aptos"/>
              </a:defRPr>
            </a:pPr>
            <a:r>
              <a:t>Marco Ruiz    •    Modules 1–8    •    Two clearly separated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053328"/>
            <a:ext cx="365760" cy="21945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100" b="1">
                <a:solidFill>
                  <a:srgbClr val="5CC9E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01 / INHERITED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Two defects made reasonable-looking numbers untrustworthy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Original: TANK_FILL_rev4.xlsx • Module 1 defect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20640" cy="3346704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" y="2029967"/>
            <a:ext cx="54864" cy="374904"/>
          </a:xfrm>
          <a:prstGeom prst="rect">
            <a:avLst/>
          </a:prstGeom>
          <a:solidFill>
            <a:srgbClr val="F8B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002536"/>
            <a:ext cx="454456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R-108 / Hidden unit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87752"/>
            <a:ext cx="4617720" cy="24323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0">
                <a:solidFill>
                  <a:srgbClr val="B1C4D3"/>
                </a:solidFill>
                <a:latin typeface="Aptos"/>
              </a:defRPr>
            </a:pPr>
            <a:r>
              <a:t>Field Notes: 2.5 ft</a:t>
            </a:r>
            <a:br/>
            <a:r>
              <a:t>Worksheet interpreted: 2.5 in</a:t>
            </a:r>
            <a:br/>
            <a:br/>
            <a:r>
              <a:t>Wrong: 93.5065 gal</a:t>
            </a:r>
            <a:br/>
            <a:r>
              <a:t>Correct: 1,122.078 gal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8" y="1783080"/>
            <a:ext cx="5303520" cy="3346704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2029967"/>
            <a:ext cx="54864" cy="374904"/>
          </a:xfrm>
          <a:prstGeom prst="rect">
            <a:avLst/>
          </a:prstGeom>
          <a:solidFill>
            <a:srgbClr val="FF9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02536"/>
            <a:ext cx="472744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G25 / Incomplete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587752"/>
            <a:ext cx="4800600" cy="24323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0">
                <a:solidFill>
                  <a:srgbClr val="B1C4D3"/>
                </a:solidFill>
                <a:latin typeface="Aptos"/>
              </a:defRPr>
            </a:pPr>
            <a:r>
              <a:t>SUM(G6:G17) included 12 runs.</a:t>
            </a:r>
            <a:br/>
            <a:r>
              <a:t>Six later rows were excluded.</a:t>
            </a:r>
            <a:br/>
            <a:br/>
            <a:r>
              <a:t>Reported: 8,527.79 gal</a:t>
            </a:r>
            <a:br/>
            <a:r>
              <a:t>Fully corrected: 14,175.59 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241280" cy="53035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2000" b="1">
                <a:solidFill>
                  <a:srgbClr val="F6F8FA"/>
                </a:solidFill>
                <a:latin typeface="Aptos"/>
              </a:defRPr>
            </a:pPr>
            <a:r>
              <a:t>No Excel formula error appeared. The risk was silent engineering misinterpretation.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02 /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How the application grew across the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The tank-fill and sensor-monitoring strands have distinct origins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6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423160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34639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Workbook R-108 / G25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1783080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956816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02–03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423160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2834639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Units, validation,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1783080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1956816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23160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34639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Interface planning; financial plan remained a proposal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58768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32504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05–06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498848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910327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Sensor replay + 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6008" y="3858768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032504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498848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910327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Alert, stale data, logs, restart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49056" y="3858768"/>
            <a:ext cx="3566160" cy="1847088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7656" y="4032504"/>
            <a:ext cx="82296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800" b="1">
                <a:solidFill>
                  <a:srgbClr val="5CC9E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498848"/>
            <a:ext cx="2926080" cy="33832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000" b="1">
                <a:solidFill>
                  <a:srgbClr val="F6F8FA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910327"/>
            <a:ext cx="3054096" cy="6309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300" b="0">
                <a:solidFill>
                  <a:srgbClr val="B1C4D3"/>
                </a:solidFill>
                <a:latin typeface="Aptos"/>
              </a:defRPr>
            </a:pPr>
            <a:r>
              <a:t>Handoff guide + capstone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03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Final architecture — two auditable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Single local Flask app • separate calculations and data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45920"/>
            <a:ext cx="3200400" cy="411480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23644"/>
            <a:ext cx="3108960" cy="228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1">
                <a:solidFill>
                  <a:srgbClr val="5CC9EF"/>
                </a:solidFill>
                <a:latin typeface="Aptos"/>
              </a:defRPr>
            </a:pPr>
            <a:r>
              <a:t>FLASK :5000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22576"/>
            <a:ext cx="5120640" cy="31089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" y="2569464"/>
            <a:ext cx="54864" cy="374904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542032"/>
            <a:ext cx="454456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Workbook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4617720" cy="21945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/tank + /api/tank-volume</a:t>
            </a:r>
            <a:br/>
            <a:r>
              <a:t>Explicit ft / in depth unit → validation</a:t>
            </a:r>
            <a:br/>
            <a:r>
              <a:t>Named formula → US gallons</a:t>
            </a:r>
            <a:br/>
            <a:r>
              <a:t>Reject unsupported values and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2322576"/>
            <a:ext cx="5330952" cy="31089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569464"/>
            <a:ext cx="54864" cy="374904"/>
          </a:xfrm>
          <a:prstGeom prst="rect">
            <a:avLst/>
          </a:prstGeom>
          <a:solidFill>
            <a:srgbClr val="6DE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542032"/>
            <a:ext cx="4754880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Sensor replay /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27248"/>
            <a:ext cx="4828032" cy="21945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Original CSV → status validation</a:t>
            </a:r>
            <a:br/>
            <a:r>
              <a:t>SQLite (original time + arrival time)</a:t>
            </a:r>
            <a:br/>
            <a:r>
              <a:t>Alerts, stale health, JSONL logs</a:t>
            </a:r>
            <a:br/>
            <a:r>
              <a:t>Supervised app restart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15000"/>
            <a:ext cx="10698480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700" b="1">
                <a:solidFill>
                  <a:srgbClr val="F8BA73"/>
                </a:solidFill>
                <a:latin typeface="Aptos"/>
              </a:defRPr>
            </a:pPr>
            <a:r>
              <a:t>The temperature replay does NOT measure tank fill 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04 / LIVE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Live demonstration — valid, corrected, refused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Use http://127.0.0.1:5000/tank • enter units explicitly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55648"/>
            <a:ext cx="3566160" cy="347472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20824"/>
            <a:ext cx="557784" cy="411480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98548"/>
            <a:ext cx="466344" cy="228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1">
                <a:solidFill>
                  <a:srgbClr val="6DE0B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88336"/>
            <a:ext cx="3090672" cy="4572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200" b="1">
                <a:solidFill>
                  <a:srgbClr val="F6F8FA"/>
                </a:solidFill>
                <a:latin typeface="Aptos"/>
              </a:defRPr>
            </a:pPr>
            <a:r>
              <a:t>Known-correct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3063240" cy="4114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0">
                <a:solidFill>
                  <a:srgbClr val="B1C4D3"/>
                </a:solidFill>
                <a:latin typeface="Aptos"/>
              </a:defRPr>
            </a:pPr>
            <a:r>
              <a:t>10 × 6 × 12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151376"/>
            <a:ext cx="3099816" cy="694944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43400"/>
            <a:ext cx="3017520" cy="30175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900" b="1">
                <a:solidFill>
                  <a:srgbClr val="6DE0BA"/>
                </a:solidFill>
                <a:latin typeface="Aptos"/>
              </a:defRPr>
            </a:pPr>
            <a:r>
              <a:t>448.8312 gal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755648"/>
            <a:ext cx="3566160" cy="347472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92040" y="2020824"/>
            <a:ext cx="557784" cy="411480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098548"/>
            <a:ext cx="466344" cy="228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1">
                <a:solidFill>
                  <a:srgbClr val="5CC9E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88336"/>
            <a:ext cx="3090672" cy="4572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200" b="1">
                <a:solidFill>
                  <a:srgbClr val="F6F8FA"/>
                </a:solidFill>
                <a:latin typeface="Aptos"/>
              </a:defRPr>
            </a:pPr>
            <a:r>
              <a:t>Defect 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291840"/>
            <a:ext cx="3063240" cy="4114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0">
                <a:solidFill>
                  <a:srgbClr val="B1C4D3"/>
                </a:solidFill>
                <a:latin typeface="Aptos"/>
              </a:defRPr>
            </a:pPr>
            <a:r>
              <a:t>10 × 6 × 2.5 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4151376"/>
            <a:ext cx="3099816" cy="694944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4343400"/>
            <a:ext cx="3017520" cy="30175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900" b="1">
                <a:solidFill>
                  <a:srgbClr val="5CC9EF"/>
                </a:solidFill>
                <a:latin typeface="Aptos"/>
              </a:defRPr>
            </a:pPr>
            <a:r>
              <a:t>1122.078 gal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755648"/>
            <a:ext cx="3566160" cy="347472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2020824"/>
            <a:ext cx="557784" cy="411480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098548"/>
            <a:ext cx="466344" cy="2286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1">
                <a:solidFill>
                  <a:srgbClr val="FF9A9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88336"/>
            <a:ext cx="3090672" cy="45720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200" b="1">
                <a:solidFill>
                  <a:srgbClr val="F6F8FA"/>
                </a:solidFill>
                <a:latin typeface="Aptos"/>
              </a:defRPr>
            </a:pPr>
            <a:r>
              <a:t>Invalid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291840"/>
            <a:ext cx="3063240" cy="4114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0">
                <a:solidFill>
                  <a:srgbClr val="B1C4D3"/>
                </a:solidFill>
                <a:latin typeface="Aptos"/>
              </a:defRPr>
            </a:pPr>
            <a:r>
              <a:t>10 × 6 × −1 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51376"/>
            <a:ext cx="3099816" cy="694944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4343400"/>
            <a:ext cx="3017520" cy="30175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900" b="1">
                <a:solidFill>
                  <a:srgbClr val="FF9A90"/>
                </a:solidFill>
                <a:latin typeface="Aptos"/>
              </a:defRPr>
            </a:pPr>
            <a:r>
              <a:t>REFUSED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241280" cy="42062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700" b="0">
                <a:solidFill>
                  <a:srgbClr val="F6F8FA"/>
                </a:solidFill>
                <a:latin typeface="Aptos"/>
              </a:defRPr>
            </a:pPr>
            <a:r>
              <a:t>Show / for sensor status and archived history after the calculator demonstration.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05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Prove the calculation with traceable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Expected results sourced from Module 1 tests and defect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847088"/>
            <a:ext cx="5120640" cy="15087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8408" y="2093976"/>
            <a:ext cx="54864" cy="374904"/>
          </a:xfrm>
          <a:prstGeom prst="rect">
            <a:avLst/>
          </a:prstGeom>
          <a:solidFill>
            <a:srgbClr val="6DE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066543"/>
            <a:ext cx="454456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Known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51760"/>
            <a:ext cx="4617720" cy="594359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R-103 / R-116: expected gallons 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1847088"/>
            <a:ext cx="5303520" cy="15087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93976"/>
            <a:ext cx="54864" cy="374904"/>
          </a:xfrm>
          <a:prstGeom prst="rect">
            <a:avLst/>
          </a:prstGeom>
          <a:solidFill>
            <a:srgbClr val="F8B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66543"/>
            <a:ext cx="472744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Problem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4800600" cy="594359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R-108 source unit converted from ft →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566160"/>
            <a:ext cx="5120640" cy="15087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8408" y="3813048"/>
            <a:ext cx="54864" cy="374904"/>
          </a:xfrm>
          <a:prstGeom prst="rect">
            <a:avLst/>
          </a:prstGeom>
          <a:solidFill>
            <a:srgbClr val="FF9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3785615"/>
            <a:ext cx="454456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Refusal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370832"/>
            <a:ext cx="4617720" cy="594359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Negative depth, missing units, nonnumeric rejected.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566160"/>
            <a:ext cx="5303520" cy="150876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13048"/>
            <a:ext cx="54864" cy="374904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785615"/>
            <a:ext cx="472744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Student-created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370832"/>
            <a:ext cx="4800600" cy="594359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18 distinct IDs are all included in run total.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68112"/>
            <a:ext cx="10515600" cy="402336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400" b="0">
                <a:solidFill>
                  <a:srgbClr val="B1C4D3"/>
                </a:solidFill>
                <a:latin typeface="Aptos"/>
              </a:defRPr>
            </a:pPr>
            <a:r>
              <a:t>Local: 14 calculation tests passed; Flask HTTP tests run in CI with dependencies installed.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06 /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Failure → detection → logs →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Existing Module 7.2 controlled incident evidence, not invented lab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057400" cy="192024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874519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800" b="1">
                <a:solidFill>
                  <a:srgbClr val="F6F8FA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1874519" cy="50292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0">
                <a:solidFill>
                  <a:srgbClr val="5CC9EF"/>
                </a:solidFill>
                <a:latin typeface="Aptos"/>
              </a:defRPr>
            </a:pPr>
            <a:r>
              <a:t>SOURCE_PAUSED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2400" b="1">
                <a:solidFill>
                  <a:srgbClr val="F8BA73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103120"/>
            <a:ext cx="2057400" cy="192024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514600"/>
            <a:ext cx="1874519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800" b="1">
                <a:solidFill>
                  <a:srgbClr val="F6F8FA"/>
                </a:solidFill>
                <a:latin typeface="Aptos"/>
              </a:defRPr>
            </a:pPr>
            <a:r>
              <a:t>STALE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08960"/>
            <a:ext cx="1874519" cy="50292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0">
                <a:solidFill>
                  <a:srgbClr val="5CC9EF"/>
                </a:solidFill>
                <a:latin typeface="Aptos"/>
              </a:defRPr>
            </a:pPr>
            <a:r>
              <a:t>STALE_INPUT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2400" b="1">
                <a:solidFill>
                  <a:srgbClr val="F8BA73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103120"/>
            <a:ext cx="2057400" cy="192024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79" y="2514600"/>
            <a:ext cx="1874519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800" b="1">
                <a:solidFill>
                  <a:srgbClr val="F6F8FA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3108960"/>
            <a:ext cx="1874519" cy="50292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0">
                <a:solidFill>
                  <a:srgbClr val="5CC9EF"/>
                </a:solidFill>
                <a:latin typeface="Aptos"/>
              </a:defRPr>
            </a:pPr>
            <a:r>
              <a:t>INPUT_FAILED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2400" b="1">
                <a:solidFill>
                  <a:srgbClr val="F8BA73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59" y="2103120"/>
            <a:ext cx="2057400" cy="192024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9" y="2514600"/>
            <a:ext cx="1874519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800" b="1">
                <a:solidFill>
                  <a:srgbClr val="F6F8FA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399" y="3108960"/>
            <a:ext cx="1874519" cy="50292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0">
                <a:solidFill>
                  <a:srgbClr val="5CC9EF"/>
                </a:solidFill>
                <a:latin typeface="Aptos"/>
              </a:defRPr>
            </a:pPr>
            <a:r>
              <a:t>SOURCE_RESUMED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5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2400" b="1">
                <a:solidFill>
                  <a:srgbClr val="F8BA73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03120"/>
            <a:ext cx="2057400" cy="1920240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19" y="2514600"/>
            <a:ext cx="1874519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800" b="1">
                <a:solidFill>
                  <a:srgbClr val="F6F8FA"/>
                </a:solidFill>
                <a:latin typeface="Aptos"/>
              </a:defRPr>
            </a:pPr>
            <a:r>
              <a:t>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19" y="3108960"/>
            <a:ext cx="1874519" cy="50292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100" b="0">
                <a:solidFill>
                  <a:srgbClr val="5CC9EF"/>
                </a:solidFill>
                <a:latin typeface="Aptos"/>
              </a:defRPr>
            </a:pPr>
            <a:r>
              <a:t>HEALTH_RECOVERED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754880"/>
            <a:ext cx="9921240" cy="658368"/>
          </a:xfrm>
          <a:prstGeom prst="roundRect">
            <a:avLst/>
          </a:prstGeom>
          <a:solidFill>
            <a:srgbClr val="1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26464" y="4910328"/>
            <a:ext cx="9418320" cy="374904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900" b="1">
                <a:solidFill>
                  <a:srgbClr val="6DE0BA"/>
                </a:solidFill>
                <a:latin typeface="Aptos"/>
              </a:defRPr>
            </a:pPr>
            <a:r>
              <a:t>8,780 original SQLite records before &amp; after • integrity OK • final 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02336"/>
            <a:ext cx="45720" cy="530352"/>
          </a:xfrm>
          <a:prstGeom prst="rect">
            <a:avLst/>
          </a:prstGeom>
          <a:solidFill>
            <a:srgbClr val="5CC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058400" cy="292608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200" b="1">
                <a:solidFill>
                  <a:srgbClr val="5CC9EF"/>
                </a:solidFill>
                <a:latin typeface="Aptos"/>
              </a:defRPr>
            </a:pPr>
            <a:r>
              <a:t>07 / LESSONS +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927080" cy="5943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2800" b="1">
                <a:solidFill>
                  <a:srgbClr val="F6F8FA"/>
                </a:solidFill>
                <a:latin typeface="Aptos"/>
              </a:defRPr>
            </a:pPr>
            <a:r>
              <a:t>Trust requires clear boundaries — and code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6382512"/>
            <a:ext cx="10698480" cy="13716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1645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900" b="0">
                <a:solidFill>
                  <a:srgbClr val="B1C4D3"/>
                </a:solidFill>
                <a:latin typeface="Aptos"/>
              </a:defRPr>
            </a:pPr>
            <a:r>
              <a:t>AI permitted in development; prohibited during live technical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320040" cy="18288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r">
              <a:defRPr sz="1000" b="1">
                <a:solidFill>
                  <a:srgbClr val="5CC9E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10512"/>
            <a:ext cx="5138928" cy="3319272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057400"/>
            <a:ext cx="54864" cy="374904"/>
          </a:xfrm>
          <a:prstGeom prst="rect">
            <a:avLst/>
          </a:prstGeom>
          <a:solidFill>
            <a:srgbClr val="6DE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029967"/>
            <a:ext cx="4562856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Why I trust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615184"/>
            <a:ext cx="4636008" cy="240487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Named units and workbook source cases</a:t>
            </a:r>
            <a:br/>
            <a:r>
              <a:t>Deterministic tests and invalid refusal</a:t>
            </a:r>
            <a:br/>
            <a:r>
              <a:t>Original timestamps and rejected status</a:t>
            </a:r>
            <a:br/>
            <a:r>
              <a:t>Logged failures and monitored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810512"/>
            <a:ext cx="5303520" cy="3319272"/>
          </a:xfrm>
          <a:prstGeom prst="roundRect">
            <a:avLst/>
          </a:prstGeom>
          <a:solidFill>
            <a:srgbClr val="1A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2057400"/>
            <a:ext cx="54864" cy="374904"/>
          </a:xfrm>
          <a:prstGeom prst="rect">
            <a:avLst/>
          </a:prstGeom>
          <a:solidFill>
            <a:srgbClr val="F8B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029967"/>
            <a:ext cx="4727448" cy="39319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900" b="1">
                <a:solidFill>
                  <a:srgbClr val="F6F8FA"/>
                </a:solidFill>
                <a:latin typeface="Aptos"/>
              </a:defRPr>
            </a:pPr>
            <a:r>
              <a:t>What it still cannot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615184"/>
            <a:ext cx="4800600" cy="2404872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l">
              <a:defRPr sz="1600" b="0">
                <a:solidFill>
                  <a:srgbClr val="B1C4D3"/>
                </a:solidFill>
                <a:latin typeface="Aptos"/>
              </a:defRPr>
            </a:pPr>
            <a:r>
              <a:t>No physical tank height or irregular geometry</a:t>
            </a:r>
            <a:br/>
            <a:r>
              <a:t>Simulated, uncalibrated temperature source</a:t>
            </a:r>
            <a:br/>
            <a:r>
              <a:t>Local Flask only, not hardened production</a:t>
            </a:r>
            <a:br/>
            <a:r>
              <a:t>Real classmate handoff evidence still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77256"/>
            <a:ext cx="10149840" cy="365760"/>
          </a:xfrm>
          <a:prstGeom prst="rect">
            <a:avLst/>
          </a:prstGeom>
          <a:noFill/>
        </p:spPr>
        <p:txBody>
          <a:bodyPr wrap="square" lIns="0" rIns="0" tIns="18288" bIns="9144">
            <a:spAutoFit/>
          </a:bodyPr>
          <a:lstStyle/>
          <a:p>
            <a:pPr algn="ctr">
              <a:defRPr sz="1600" b="1">
                <a:solidFill>
                  <a:srgbClr val="F6F8FA"/>
                </a:solidFill>
                <a:latin typeface="Aptos"/>
              </a:defRPr>
            </a:pPr>
            <a:r>
              <a:t>Know where to change a threshold, UI label, validation rule, and test — without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